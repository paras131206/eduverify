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da1f850d-efa1-0196-ccd5-c0dc4c4903c4}">
          <p14:sldIdLst>
            <p14:sldId id="256"/>
          </p14:sldIdLst>
        </p14:section>
        <p14:section name="Proposed solution" id="{2b069ff5-0b92-da58-aec9-7049b891d61d}">
          <p14:sldIdLst>
            <p14:sldId id="257"/>
          </p14:sldIdLst>
        </p14:section>
        <p14:section name="Technical approach" id="{d6d2749e-21f0-662e-c84a-d052aecae276}">
          <p14:sldIdLst>
            <p14:sldId id="258"/>
          </p14:sldIdLst>
        </p14:section>
        <p14:section name="Feasibility" id="{738dd58e-ec45-269c-5915-e71295e4978a}">
          <p14:sldIdLst>
            <p14:sldId id="259"/>
          </p14:sldIdLst>
        </p14:section>
        <p14:section name="Impact" id="{ee59324d-1d99-7edf-5848-eef84b20e242}">
          <p14:sldIdLst>
            <p14:sldId id="260"/>
          </p14:sldIdLst>
        </p14:section>
        <p14:section name="References" id="{933e58b2-c2cd-6871-522f-a5eda92d5fee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vldb.org/pvldb/vol11/p1781-schelter.pdf" TargetMode="External"/><Relationship Id="rId3" Type="http://schemas.openxmlformats.org/officeDocument/2006/relationships/hyperlink" Target="https://link.springer.com/book/10.1007/978-3-642-31164-2" TargetMode="External"/><Relationship Id="rId4" Type="http://schemas.openxmlformats.org/officeDocument/2006/relationships/hyperlink" Target="https://docs.dedupe.io/en/latest/API-documentation.html" TargetMode="External"/><Relationship Id="rId5" Type="http://schemas.openxmlformats.org/officeDocument/2006/relationships/hyperlink" Target="https://doi.org/10.1016/j.procs.2021.12.165" TargetMode="External"/><Relationship Id="rId6" Type="http://schemas.openxmlformats.org/officeDocument/2006/relationships/hyperlink" Target="https://doi.org/10.3390/educsci13090947" TargetMode="External"/><Relationship Id="rId7" Type="http://schemas.openxmlformats.org/officeDocument/2006/relationships/hyperlink" Target="https://doi.org/10.3390/s25113450" TargetMode="External"/><Relationship Id="rId8" Type="http://schemas.openxmlformats.org/officeDocument/2006/relationships/hyperlink" Target="https://huggingface.co/datasets/neuralsorcerer/student-performance" TargetMode="External"/><Relationship Id="rId9" Type="http://schemas.openxmlformats.org/officeDocument/2006/relationships/hyperlink" Target="https://github.com/drsanjayagal/UniversityIntake-MLDataset" TargetMode="External"/><Relationship Id="rId1" Type="http://schemas.openxmlformats.org/officeDocument/2006/relationships/image" Target="../media/Slide-6-image-1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194560"/>
            <a:ext cx="5257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 – 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[PS ID]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Title- 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APAAR-based Student Data Management and Verification System for AICTE-approved Institutions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Theme- 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[Theme]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Category- 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ID- 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ID]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 (Registered on portal)- 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Name]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89788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solution: </a:t>
            </a:r>
            <a:pPr indent="0" marL="0">
              <a:buNone/>
            </a:pPr>
            <a:r>
              <a:rPr lang="en-US" sz="1800" b="1" dirty="0">
                <a:solidFill>
                  <a:srgbClr val="1E7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EDUVERIFY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256032"/>
            <a:ext cx="1257300" cy="8001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2377440" y="38404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EDUVERIFY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228600" y="1115568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28600" y="1417320"/>
            <a:ext cx="6172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Institutions upload </a:t>
            </a:r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APAAR-linked student records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after admissions. EDUVERIFY maps each file to a standard schema, checks fields, consistency and </a:t>
            </a:r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category-wise intake limits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flags </a:t>
            </a:r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 duplicates across institutions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reasons, and routes unclear cases to </a:t>
            </a:r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authorised reviewers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Every decision is audit-logged.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28600" y="2331720"/>
            <a:ext cx="6172200" cy="621792"/>
          </a:xfrm>
          <a:prstGeom prst="rect">
            <a:avLst/>
          </a:prstGeom>
          <a:solidFill>
            <a:srgbClr val="FCEEDC"/>
          </a:solidFill>
          <a:ln w="9525">
            <a:solidFill>
              <a:srgbClr val="E8C9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" y="2350008"/>
            <a:ext cx="59527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5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≠ official verification.  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checks confirm records are complete and consistent. Confirming an APAAR ID with the official registry needs authorised API access; the prototype uses a mock registry and marks records “mock-checked”.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28600" y="3017520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IT DIFFERENT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28600" y="3328416"/>
            <a:ext cx="6172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validation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each flag names the field, rule and evidence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Institution-specific mapping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“PRN” column is mapped to the standard student_id field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Cross-institution duplicate candidates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scored, reviewed, never auto-merged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Category-wise intake monitoring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regular and supernumerary limits kept separate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Auditable review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who decided what, when and why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4727448"/>
            <a:ext cx="3017520" cy="1490472"/>
          </a:xfrm>
          <a:prstGeom prst="rect">
            <a:avLst/>
          </a:prstGeom>
          <a:solidFill>
            <a:srgbClr val="FFFFFF"/>
          </a:solidFill>
          <a:ln w="9525">
            <a:solidFill>
              <a:srgbClr val="B9C7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" y="4754880"/>
            <a:ext cx="283464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E7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· INTAKE (illustrative)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CSE, 2026-27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regular intake: 120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Admitted on regular seats: 125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C45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Potential excess: 5 — sent for review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i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Supernumerary seats (e.g. TFW, eligible NRI/OCI/FN) are checked against their own limits.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83280" y="4727448"/>
            <a:ext cx="3017520" cy="1490472"/>
          </a:xfrm>
          <a:prstGeom prst="rect">
            <a:avLst/>
          </a:prstGeom>
          <a:solidFill>
            <a:srgbClr val="FFFFFF"/>
          </a:solidFill>
          <a:ln w="9525">
            <a:solidFill>
              <a:srgbClr val="B9C7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74720" y="4754880"/>
            <a:ext cx="283464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E7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· CONSISTENCY (illustrative)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Admitted 2026, 4-year programme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graduation: 2030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graduation year: 2028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9A5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Potential inconsistency — review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i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be a data error, lateral entry or transfer; a reviewer decides.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29400" y="1115568"/>
            <a:ext cx="534924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1170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WORKFLOW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0" y="118872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NO: 01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39128" y="1554480"/>
            <a:ext cx="841248" cy="420624"/>
          </a:xfrm>
          <a:prstGeom prst="roundRect">
            <a:avLst>
              <a:gd name="adj" fmla="val 13043"/>
            </a:avLst>
          </a:prstGeom>
          <a:solidFill>
            <a:srgbClr val="16325C"/>
          </a:solidFill>
          <a:ln>
            <a:solidFill>
              <a:srgbClr val="1632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AICTE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653528" y="1554480"/>
            <a:ext cx="2542032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875">
            <a:solidFill>
              <a:srgbClr val="16325C"/>
            </a:solidFill>
            <a:prstDash val="solid"/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l" indent="0" marL="0">
              <a:buNone/>
            </a:pPr>
            <a:r>
              <a:rPr lang="en-US" sz="1000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approved intake (programme, year, seat category)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24544" y="1975104"/>
            <a:ext cx="0" cy="118872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739128" y="2093976"/>
            <a:ext cx="841248" cy="420624"/>
          </a:xfrm>
          <a:prstGeom prst="roundRect">
            <a:avLst>
              <a:gd name="adj" fmla="val 13043"/>
            </a:avLst>
          </a:prstGeom>
          <a:solidFill>
            <a:srgbClr val="1E7F86"/>
          </a:solidFill>
          <a:ln>
            <a:solidFill>
              <a:srgbClr val="1E7F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653528" y="2093976"/>
            <a:ext cx="2542032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875">
            <a:solidFill>
              <a:srgbClr val="1E7F86"/>
            </a:solidFill>
            <a:prstDash val="solid"/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7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l" indent="0" marL="0">
              <a:buNone/>
            </a:pPr>
            <a:r>
              <a:rPr lang="en-US" sz="1000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CSV / Excel  (REST API: planned)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924544" y="2514600"/>
            <a:ext cx="0" cy="118872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739128" y="2633472"/>
            <a:ext cx="841248" cy="420624"/>
          </a:xfrm>
          <a:prstGeom prst="roundRect">
            <a:avLst>
              <a:gd name="adj" fmla="val 13043"/>
            </a:avLst>
          </a:prstGeom>
          <a:solidFill>
            <a:srgbClr val="1E7F86"/>
          </a:solidFill>
          <a:ln>
            <a:solidFill>
              <a:srgbClr val="1E7F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653528" y="2633472"/>
            <a:ext cx="2542032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875">
            <a:solidFill>
              <a:srgbClr val="1E7F86"/>
            </a:solidFill>
            <a:prstDash val="solid"/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7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l" indent="0" marL="0">
              <a:buNone/>
            </a:pPr>
            <a:r>
              <a:rPr lang="en-US" sz="1000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columns to the standard schema; uploader confirms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924544" y="3054096"/>
            <a:ext cx="0" cy="118872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6739128" y="3172968"/>
            <a:ext cx="841248" cy="420624"/>
          </a:xfrm>
          <a:prstGeom prst="roundRect">
            <a:avLst>
              <a:gd name="adj" fmla="val 13043"/>
            </a:avLst>
          </a:prstGeom>
          <a:solidFill>
            <a:srgbClr val="475569"/>
          </a:solidFill>
          <a:ln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653528" y="3172968"/>
            <a:ext cx="2542032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</a:t>
            </a:r>
            <a:pPr algn="l" indent="0" marL="0">
              <a:buNone/>
            </a:pPr>
            <a:r>
              <a:rPr lang="en-US" sz="1000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Field, format, consistency, policy and intake checks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924544" y="3593592"/>
            <a:ext cx="0" cy="118872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6739128" y="3712464"/>
            <a:ext cx="841248" cy="420624"/>
          </a:xfrm>
          <a:prstGeom prst="roundRect">
            <a:avLst>
              <a:gd name="adj" fmla="val 13043"/>
            </a:avLst>
          </a:prstGeom>
          <a:solidFill>
            <a:srgbClr val="475569"/>
          </a:solidFill>
          <a:ln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653528" y="3712464"/>
            <a:ext cx="2542032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</a:t>
            </a:r>
            <a:pPr algn="l" indent="0" marL="0">
              <a:buNone/>
            </a:pPr>
            <a:r>
              <a:rPr lang="en-US" sz="1000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possible duplicates across institutions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924544" y="4133088"/>
            <a:ext cx="0" cy="118872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8193024" y="4251960"/>
            <a:ext cx="1463040" cy="512064"/>
          </a:xfrm>
          <a:prstGeom prst="diamond">
            <a:avLst/>
          </a:prstGeom>
          <a:solidFill>
            <a:srgbClr val="FCEEDC"/>
          </a:solidFill>
          <a:ln w="15875">
            <a:solidFill>
              <a:srgbClr val="E58E2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5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raised?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424160" y="4197096"/>
            <a:ext cx="144475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5875">
            <a:solidFill>
              <a:srgbClr val="E58E26"/>
            </a:solidFill>
            <a:prstDash val="solid"/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58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</a:t>
            </a:r>
            <a:pPr algn="l" indent="0" marL="0">
              <a:buNone/>
            </a:pPr>
            <a:r>
              <a:rPr lang="en-US" sz="1000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Authorised review: approve / correct / reject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656064" y="4507992"/>
            <a:ext cx="768096" cy="0"/>
          </a:xfrm>
          <a:prstGeom prst="line">
            <a:avLst/>
          </a:prstGeom>
          <a:noFill/>
          <a:ln w="15875">
            <a:solidFill>
              <a:srgbClr val="E58E26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9674352" y="430682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i="1" dirty="0">
                <a:solidFill>
                  <a:srgbClr val="9A5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0424160" y="4882896"/>
            <a:ext cx="1444752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875">
            <a:solidFill>
              <a:srgbClr val="E58E26"/>
            </a:solidFill>
            <a:prstDash val="solid"/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58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 </a:t>
            </a:r>
            <a:pPr algn="l" indent="0" marL="0">
              <a:buNone/>
            </a:pPr>
            <a:r>
              <a:rPr lang="en-US" sz="1000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decision, evidence, audit trail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1146536" y="4818888"/>
            <a:ext cx="0" cy="64008"/>
          </a:xfrm>
          <a:prstGeom prst="line">
            <a:avLst/>
          </a:prstGeom>
          <a:noFill/>
          <a:ln w="15875">
            <a:solidFill>
              <a:srgbClr val="E58E26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H="1">
            <a:off x="10195560" y="5093208"/>
            <a:ext cx="228600" cy="0"/>
          </a:xfrm>
          <a:prstGeom prst="line">
            <a:avLst/>
          </a:prstGeom>
          <a:noFill/>
          <a:ln w="15875">
            <a:solidFill>
              <a:srgbClr val="E58E26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924544" y="4764024"/>
            <a:ext cx="0" cy="118872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8979408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i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739128" y="4882896"/>
            <a:ext cx="841248" cy="420624"/>
          </a:xfrm>
          <a:prstGeom prst="roundRect">
            <a:avLst>
              <a:gd name="adj" fmla="val 13043"/>
            </a:avLst>
          </a:prstGeom>
          <a:solidFill>
            <a:srgbClr val="16325C"/>
          </a:solidFill>
          <a:ln>
            <a:solidFill>
              <a:srgbClr val="1632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AICTE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653528" y="4882896"/>
            <a:ext cx="2542032" cy="420624"/>
          </a:xfrm>
          <a:prstGeom prst="roundRect">
            <a:avLst>
              <a:gd name="adj" fmla="val 13043"/>
            </a:avLst>
          </a:prstGeom>
          <a:solidFill>
            <a:srgbClr val="E7EDF5"/>
          </a:solidFill>
          <a:ln w="15875">
            <a:solidFill>
              <a:srgbClr val="16325C"/>
            </a:solidFill>
            <a:prstDash val="solid"/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 </a:t>
            </a:r>
            <a:pPr algn="l" indent="0" marL="0">
              <a:buNone/>
            </a:pPr>
            <a:r>
              <a:rPr lang="en-US" sz="1000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with validation + verification status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924544" y="5303520"/>
            <a:ext cx="0" cy="118872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6739128" y="5422392"/>
            <a:ext cx="841248" cy="420624"/>
          </a:xfrm>
          <a:prstGeom prst="roundRect">
            <a:avLst>
              <a:gd name="adj" fmla="val 13043"/>
            </a:avLst>
          </a:prstGeom>
          <a:solidFill>
            <a:srgbClr val="16325C"/>
          </a:solidFill>
          <a:ln>
            <a:solidFill>
              <a:srgbClr val="1632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AICTE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653528" y="5422392"/>
            <a:ext cx="2542032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875">
            <a:solidFill>
              <a:srgbClr val="16325C"/>
            </a:solidFill>
            <a:prstDash val="solid"/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 </a:t>
            </a:r>
            <a:pPr algn="l" indent="0" marL="0">
              <a:buNone/>
            </a:pPr>
            <a:r>
              <a:rPr lang="en-US" sz="1000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Authorised dashboards, reports; credential check (planned)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766560" y="5989320"/>
            <a:ext cx="274320" cy="146304"/>
          </a:xfrm>
          <a:prstGeom prst="rect">
            <a:avLst/>
          </a:prstGeom>
          <a:solidFill>
            <a:srgbClr val="FFFFFF"/>
          </a:solidFill>
          <a:ln w="15875">
            <a:solidFill>
              <a:srgbClr val="1E7F8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095744" y="59436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scope (in development)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144000" y="5989320"/>
            <a:ext cx="274320" cy="146304"/>
          </a:xfrm>
          <a:prstGeom prst="rect">
            <a:avLst/>
          </a:prstGeom>
          <a:solidFill>
            <a:srgbClr val="FFFFFF"/>
          </a:solidFill>
          <a:ln w="15875">
            <a:solidFill>
              <a:srgbClr val="E58E26"/>
            </a:solidFill>
            <a:prstDash val="dash"/>
          </a:ln>
        </p:spPr>
      </p:sp>
      <p:sp>
        <p:nvSpPr>
          <p:cNvPr id="49" name="Text 47"/>
          <p:cNvSpPr txBox="1"/>
          <p:nvPr/>
        </p:nvSpPr>
        <p:spPr>
          <a:xfrm>
            <a:off x="9473184" y="594360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authorised integration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256032"/>
            <a:ext cx="1257300" cy="8001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228600" y="11155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040880" y="11430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NO: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1481328"/>
            <a:ext cx="1024128" cy="548640"/>
          </a:xfrm>
          <a:prstGeom prst="rect">
            <a:avLst/>
          </a:prstGeom>
          <a:solidFill>
            <a:srgbClr val="1E7F86"/>
          </a:solidFill>
          <a:ln>
            <a:solidFill>
              <a:srgbClr val="1E7F8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44168" y="1481328"/>
            <a:ext cx="1698498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7F86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 portal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upload, fix flags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134106" y="1481328"/>
            <a:ext cx="1698498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7F86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console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flags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24044" y="1481328"/>
            <a:ext cx="1698498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7F86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AICTE 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intake, duplicates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713982" y="1481328"/>
            <a:ext cx="1698498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E58E26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5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page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83355" y="2029968"/>
            <a:ext cx="0" cy="155448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773293" y="2029968"/>
            <a:ext cx="0" cy="155448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28600" y="2185416"/>
            <a:ext cx="1024128" cy="548640"/>
          </a:xfrm>
          <a:prstGeom prst="rect">
            <a:avLst/>
          </a:prstGeom>
          <a:solidFill>
            <a:srgbClr val="16325C"/>
          </a:solidFill>
          <a:ln>
            <a:solidFill>
              <a:srgbClr val="16325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· FastAPI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44168" y="2185416"/>
            <a:ext cx="1698498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6325C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+ roles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login, RBAC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34106" y="2185416"/>
            <a:ext cx="1698498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6325C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upload; REST planned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24044" y="2185416"/>
            <a:ext cx="1698498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6325C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+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13982" y="2185416"/>
            <a:ext cx="1698498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6325C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logger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events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83355" y="2734056"/>
            <a:ext cx="0" cy="155448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773293" y="2734056"/>
            <a:ext cx="0" cy="155448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28600" y="2889504"/>
            <a:ext cx="1024128" cy="548640"/>
          </a:xfrm>
          <a:prstGeom prst="rect">
            <a:avLst/>
          </a:prstGeom>
          <a:solidFill>
            <a:srgbClr val="475569"/>
          </a:solidFill>
          <a:ln>
            <a:solidFill>
              <a:srgbClr val="47556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44168" y="2889504"/>
            <a:ext cx="1698498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mapper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PRN column → student_id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34106" y="2889504"/>
            <a:ext cx="1698498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engine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+ Pandera rules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24044" y="2889504"/>
            <a:ext cx="1698498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Intake-rule engine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programme &amp; category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13982" y="2889504"/>
            <a:ext cx="1698498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matcher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Splink candidates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83355" y="3438144"/>
            <a:ext cx="0" cy="155448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773293" y="3438144"/>
            <a:ext cx="0" cy="155448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228600" y="3593592"/>
            <a:ext cx="1024128" cy="548640"/>
          </a:xfrm>
          <a:prstGeom prst="rect">
            <a:avLst/>
          </a:prstGeom>
          <a:solidFill>
            <a:srgbClr val="17676D"/>
          </a:solidFill>
          <a:ln>
            <a:solidFill>
              <a:srgbClr val="17676D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344168" y="3593592"/>
            <a:ext cx="1698498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7676D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+ statuses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134106" y="3593592"/>
            <a:ext cx="1698498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7676D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who, what, when, why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24044" y="3593592"/>
            <a:ext cx="1698498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7676D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APAAR registry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only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13982" y="3593592"/>
            <a:ext cx="1698498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E58E26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5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APAAR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authorisation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" y="4343400"/>
            <a:ext cx="443484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7D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38328" y="43891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7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DUPLICATE-CANDIDATE MATCHING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338328" y="4690872"/>
            <a:ext cx="422452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Block 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compare only records sharing DOB or a phonetic name key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Compare 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name, DOB, gender, APAAR ID, institution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Score 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weighted similarity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Route 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score ≥ 0.75 → review queue (provisional)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Decide 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reviewer marks same / different; never auto-merged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i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Thresholds will be calibrated on labelled test pairs. A high score means “check this pair”, not proof of identity.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432511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7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STATUS MODEL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4636008"/>
          <a:ext cx="36118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19456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F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Possible status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F86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passed · failed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Duplicate check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clear · potential duplicate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needed · pending · resolved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Official APAAR check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checked · mock-checked · officially verified*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6" name="Text 33"/>
          <p:cNvSpPr txBox="1"/>
          <p:nvPr/>
        </p:nvSpPr>
        <p:spPr>
          <a:xfrm>
            <a:off x="4800600" y="603504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*only through an authorised integration. “Validation passed” is not official verification.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8595360" y="1115568"/>
            <a:ext cx="338328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4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732520" y="11704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500" dirty="0"/>
          </a:p>
        </p:txBody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722991"/>
            <a:ext cx="274320" cy="274320"/>
          </a:xfrm>
          <a:prstGeom prst="rect">
            <a:avLst/>
          </a:prstGeom>
        </p:spPr>
      </p:pic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1704" y="1722991"/>
            <a:ext cx="274320" cy="274320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9436608" y="1527048"/>
            <a:ext cx="2468880" cy="66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React, TypeScript, Tailwind — portals and dashboards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8732520" y="2193254"/>
            <a:ext cx="31089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2389197"/>
            <a:ext cx="274320" cy="274320"/>
          </a:xfrm>
          <a:prstGeom prst="rect">
            <a:avLst/>
          </a:prstGeom>
        </p:spPr>
      </p:pic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1704" y="2389197"/>
            <a:ext cx="274320" cy="274320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9436608" y="2193254"/>
            <a:ext cx="2468880" cy="66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FastAPI, Python — APIs and background jobs</a:t>
            </a:r>
            <a:endParaRPr lang="en-US" sz="1050" dirty="0"/>
          </a:p>
        </p:txBody>
      </p:sp>
      <p:sp>
        <p:nvSpPr>
          <p:cNvPr id="46" name="Shape 39"/>
          <p:cNvSpPr/>
          <p:nvPr/>
        </p:nvSpPr>
        <p:spPr>
          <a:xfrm>
            <a:off x="8732520" y="2859459"/>
            <a:ext cx="31089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2520" y="3055402"/>
            <a:ext cx="274320" cy="274320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9436608" y="2859459"/>
            <a:ext cx="2468880" cy="66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+ Pandera — schema and rule checks</a:t>
            </a:r>
            <a:endParaRPr lang="en-US" sz="1050" dirty="0"/>
          </a:p>
        </p:txBody>
      </p:sp>
      <p:sp>
        <p:nvSpPr>
          <p:cNvPr id="49" name="Shape 41"/>
          <p:cNvSpPr/>
          <p:nvPr/>
        </p:nvSpPr>
        <p:spPr>
          <a:xfrm>
            <a:off x="8732520" y="3525665"/>
            <a:ext cx="31089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2520" y="3721608"/>
            <a:ext cx="274320" cy="274320"/>
          </a:xfrm>
          <a:prstGeom prst="rect">
            <a:avLst/>
          </a:prstGeom>
        </p:spPr>
      </p:pic>
      <p:sp>
        <p:nvSpPr>
          <p:cNvPr id="51" name="Text 42"/>
          <p:cNvSpPr txBox="1"/>
          <p:nvPr/>
        </p:nvSpPr>
        <p:spPr>
          <a:xfrm>
            <a:off x="9436608" y="3525665"/>
            <a:ext cx="2468880" cy="66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Splink on DuckDB — duplicate candidates</a:t>
            </a:r>
            <a:endParaRPr lang="en-US" sz="1050" dirty="0"/>
          </a:p>
        </p:txBody>
      </p:sp>
      <p:sp>
        <p:nvSpPr>
          <p:cNvPr id="52" name="Shape 43"/>
          <p:cNvSpPr/>
          <p:nvPr/>
        </p:nvSpPr>
        <p:spPr>
          <a:xfrm>
            <a:off x="8732520" y="4191871"/>
            <a:ext cx="31089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32520" y="4387814"/>
            <a:ext cx="274320" cy="274320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9436608" y="4191871"/>
            <a:ext cx="2468880" cy="66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— records, statuses, audit trail</a:t>
            </a:r>
            <a:endParaRPr lang="en-US" sz="1050" dirty="0"/>
          </a:p>
        </p:txBody>
      </p:sp>
      <p:sp>
        <p:nvSpPr>
          <p:cNvPr id="55" name="Shape 45"/>
          <p:cNvSpPr/>
          <p:nvPr/>
        </p:nvSpPr>
        <p:spPr>
          <a:xfrm>
            <a:off x="8732520" y="4858077"/>
            <a:ext cx="31089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2520" y="5054019"/>
            <a:ext cx="274320" cy="274320"/>
          </a:xfrm>
          <a:prstGeom prst="rect">
            <a:avLst/>
          </a:prstGeom>
        </p:spPr>
      </p:pic>
      <p:sp>
        <p:nvSpPr>
          <p:cNvPr id="57" name="Text 46"/>
          <p:cNvSpPr txBox="1"/>
          <p:nvPr/>
        </p:nvSpPr>
        <p:spPr>
          <a:xfrm>
            <a:off x="9436608" y="4858077"/>
            <a:ext cx="2468880" cy="66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login, RBAC, audit log; Ed25519 signing (planned)</a:t>
            </a:r>
            <a:endParaRPr lang="en-US" sz="1050" dirty="0"/>
          </a:p>
        </p:txBody>
      </p:sp>
      <p:sp>
        <p:nvSpPr>
          <p:cNvPr id="58" name="Shape 47"/>
          <p:cNvSpPr/>
          <p:nvPr/>
        </p:nvSpPr>
        <p:spPr>
          <a:xfrm>
            <a:off x="8732520" y="5524282"/>
            <a:ext cx="31089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32520" y="5720225"/>
            <a:ext cx="274320" cy="274320"/>
          </a:xfrm>
          <a:prstGeom prst="rect">
            <a:avLst/>
          </a:prstGeom>
        </p:spPr>
      </p:pic>
      <p:sp>
        <p:nvSpPr>
          <p:cNvPr id="60" name="Text 48"/>
          <p:cNvSpPr txBox="1"/>
          <p:nvPr/>
        </p:nvSpPr>
        <p:spPr>
          <a:xfrm>
            <a:off x="9436608" y="5524282"/>
            <a:ext cx="2468880" cy="66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— one-command setup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256032"/>
            <a:ext cx="1257300" cy="8001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228600" y="1143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8600" y="1508760"/>
            <a:ext cx="3886200" cy="1024128"/>
          </a:xfrm>
          <a:prstGeom prst="rect">
            <a:avLst/>
          </a:prstGeom>
          <a:solidFill>
            <a:srgbClr val="E4F2F2"/>
          </a:solidFill>
          <a:ln w="9525">
            <a:solidFill>
              <a:srgbClr val="B9C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47472" y="1545336"/>
            <a:ext cx="3703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6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❖ Upload, mapping and validation work without any external integration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❖ Mature open-source libraries for rules and matching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2633472"/>
            <a:ext cx="3886200" cy="1024128"/>
          </a:xfrm>
          <a:prstGeom prst="rect">
            <a:avLst/>
          </a:prstGeom>
          <a:solidFill>
            <a:srgbClr val="E7EDF5"/>
          </a:solidFill>
          <a:ln w="9525">
            <a:solidFill>
              <a:srgbClr val="B9C7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" y="2670048"/>
            <a:ext cx="3703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6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❖ Institutions already keep admission lists in spreadsheets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❖ Needs trained reviewers at institution and AICTE level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3758184"/>
            <a:ext cx="3886200" cy="1024128"/>
          </a:xfrm>
          <a:prstGeom prst="rect">
            <a:avLst/>
          </a:prstGeom>
          <a:solidFill>
            <a:srgbClr val="E4F2F2"/>
          </a:solidFill>
          <a:ln w="9525">
            <a:solidFill>
              <a:srgbClr val="B9C7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" y="3794760"/>
            <a:ext cx="3703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6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❖ Open-source stack; a pilot can run on one server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❖ Hosting and support costs to be estimated with AICTE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11430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AND HOW WE HANDLE THEM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508760"/>
          <a:ext cx="763524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777240"/>
                <a:gridCol w="43434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F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F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we handle 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F8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APAAR / ABC dependency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45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1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access, permissions, supported operations and credentials must be confirmed with the authorised service; the prototype uses a mock registry until then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column names and formats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45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1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mapping confirmed by the uploader, plus a downloadable template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duplicate matches (name variants)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A5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Candidates only; a person decides; thresholds calibrated on labelled pairs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intake conclusions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A5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limits per seat category; excess shown as “potential” until reviewed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data protection (DPDP Act, 2023)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45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1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minimisation, consent records, role-based access, masking, audit log; legal review before any real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 workload at admission peaks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A5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queue prioritised by confidence and impact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228600" y="4983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PLAN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28600" y="5321808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7F8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0040" y="5340096"/>
            <a:ext cx="2514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— Prototype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data, mock registry (current)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971800" y="5678424"/>
            <a:ext cx="228600" cy="155448"/>
          </a:xfrm>
          <a:prstGeom prst="rightArrow">
            <a:avLst/>
          </a:prstGeom>
          <a:solidFill>
            <a:srgbClr val="16325C"/>
          </a:solidFill>
          <a:ln w="12700">
            <a:solidFill>
              <a:srgbClr val="16325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46120" y="5321808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7F8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37560" y="5340096"/>
            <a:ext cx="2514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Pilot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institutions, subject to AICTE approval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989320" y="5678424"/>
            <a:ext cx="228600" cy="155448"/>
          </a:xfrm>
          <a:prstGeom prst="rightArrow">
            <a:avLst/>
          </a:prstGeom>
          <a:solidFill>
            <a:srgbClr val="16325C"/>
          </a:solidFill>
          <a:ln w="12700">
            <a:solidFill>
              <a:srgbClr val="16325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63640" y="5321808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8E2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55080" y="5340096"/>
            <a:ext cx="2514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Integration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APAAR / ABC access, if authorised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006840" y="5678424"/>
            <a:ext cx="228600" cy="155448"/>
          </a:xfrm>
          <a:prstGeom prst="rightArrow">
            <a:avLst/>
          </a:prstGeom>
          <a:solidFill>
            <a:srgbClr val="16325C"/>
          </a:solidFill>
          <a:ln w="12700">
            <a:solidFill>
              <a:srgbClr val="16325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281160" y="5321808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7F8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372600" y="5340096"/>
            <a:ext cx="2514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Scale-up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rollout after pilot review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256032"/>
            <a:ext cx="1257300" cy="8001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11430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on Each Stakeholder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08760"/>
          <a:ext cx="74980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880360"/>
                <a:gridCol w="28803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AICTE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Student-level, APAAR-linked records per programme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Potential excess intake and duplicate candidates seen at submission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structured upload with explained flags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clarification rounds with AICTE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consistent record linked to their APAAR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repeated document checks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Employers &amp; Regulators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a credential's issuer signature and status (planned)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than manual email or phone verification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Makers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Programme- and category-level enrolment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for seat planning and accreditation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274320" y="47091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Will Evaluate the Prototype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74320" y="5029200"/>
            <a:ext cx="1792224" cy="841248"/>
          </a:xfrm>
          <a:prstGeom prst="rect">
            <a:avLst/>
          </a:prstGeom>
          <a:solidFill>
            <a:srgbClr val="E4F2F2"/>
          </a:solidFill>
          <a:ln w="9525">
            <a:solidFill>
              <a:srgbClr val="B9C7D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47472" y="5029200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checks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on errors injected into synthetic batches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176272" y="5029200"/>
            <a:ext cx="1792224" cy="841248"/>
          </a:xfrm>
          <a:prstGeom prst="rect">
            <a:avLst/>
          </a:prstGeom>
          <a:solidFill>
            <a:srgbClr val="E7EDF5"/>
          </a:solidFill>
          <a:ln w="9525">
            <a:solidFill>
              <a:srgbClr val="B9C7D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249424" y="5029200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candidates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and recall on labelled pairs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078224" y="5029200"/>
            <a:ext cx="1792224" cy="841248"/>
          </a:xfrm>
          <a:prstGeom prst="rect">
            <a:avLst/>
          </a:prstGeom>
          <a:solidFill>
            <a:srgbClr val="E4F2F2"/>
          </a:solidFill>
          <a:ln w="9525">
            <a:solidFill>
              <a:srgbClr val="B9C7D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51376" y="5029200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effort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per 1,000 records; time per flag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980176" y="5029200"/>
            <a:ext cx="1792224" cy="841248"/>
          </a:xfrm>
          <a:prstGeom prst="rect">
            <a:avLst/>
          </a:prstGeom>
          <a:solidFill>
            <a:srgbClr val="E7EDF5"/>
          </a:solidFill>
          <a:ln w="9525">
            <a:solidFill>
              <a:srgbClr val="B9C7D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053328" y="5029200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 per 10,000 rows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274320" y="5916168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results are claimed yet; figures will be reported from the prototype.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092440" y="1188720"/>
            <a:ext cx="0" cy="498348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66760" y="11430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66760" y="1536192"/>
            <a:ext cx="36118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E7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Fairer seat allocation: one student, one seat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Consistent, portable academic record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E7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Less manual cross-checking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Open-source stack, no licence fees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E7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Fewer paper and couriered documents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E7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Audit trail for every change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Consent-based data handling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256032"/>
            <a:ext cx="1257300" cy="8001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228600" y="11155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WE BUILT ON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1481328"/>
            <a:ext cx="77724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 Schelter et al., “Automating Large-Scale Data Quality Verification,” PVLDB 11(12), 2018.</a:t>
            </a:r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rule checks and metric history → our validation and drift checks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u="sng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https://www.vldb.org/pvldb/vol11/p1781-schelter.pdf</a:t>
            </a:r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Christen, Data Matching: Concepts and Techniques for Record Linkage, Entity Resolution, and Duplicate Detection, Springer, 2012.</a:t>
            </a:r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blocking and field comparison → duplicate candidates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u="sng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https://link.springer.com/book/10.1007/978-3-642-31164-2</a:t>
            </a:r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dedupe library, API documentation.</a:t>
            </a:r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human-labelled pairs → review workflow and threshold calibration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u="sng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https://docs.dedupe.io/en/latest/API-documentation.html</a:t>
            </a:r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R. P. Wibowo et al., “Problem identification and intervention in the higher education data synchronization system in Indonesia,” Procedia Computer Science 197, 2022.</a:t>
            </a:r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data problems in national institution reporting → problem framing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u="sng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https://doi.org/10.1016/j.procs.2021.12.165</a:t>
            </a:r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 A. Kustitskaya et al., “Designing an Education Database in a Higher Education Institution for the Data-Driven Management of the Educational Process,” Education Sciences 13(9), 947, 2023.</a:t>
            </a:r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student-record schema design → our standard schema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u="sng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https://doi.org/10.3390/educsci13090947</a:t>
            </a:r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A. Berrios Moya, J. Ayoade, M. A. Uddin, “A Zero-Knowledge Proof-Enabled Blockchain-Based Academic Record Verification System,” Sensors 25(11), 3450, 2025.</a:t>
            </a:r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selective disclosure → future scope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u="sng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https://doi.org/10.3390/s25113450</a:t>
            </a:r>
            <a:pPr indent="0" marL="0">
              <a:spcAft>
                <a:spcPts val="400"/>
              </a:spcAft>
              <a:buNone/>
            </a:pP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0" y="1115568"/>
            <a:ext cx="3749040" cy="2697480"/>
          </a:xfrm>
          <a:prstGeom prst="rect">
            <a:avLst/>
          </a:prstGeom>
          <a:solidFill>
            <a:srgbClr val="F4F6F8"/>
          </a:solidFill>
          <a:ln w="9525">
            <a:solidFill>
              <a:srgbClr val="B9C7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39328" y="1170432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(SYNTHETIC ONLY)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339328" y="1499616"/>
            <a:ext cx="3529584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student-performance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(Hugging Face, CC0-1.0) — value ranges and missing-value tests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u="sng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https://huggingface.co/datasets/neuralsorcerer/student-performance</a:t>
            </a:r>
            <a:pPr indent="0" marL="0">
              <a:spcAft>
                <a:spcPts val="300"/>
              </a:spcAft>
              <a:buNone/>
            </a:pP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UniversityIntake-MLDataset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(GitHub, CC BY 4.0) — applicant-stage field tests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u="sng" dirty="0">
                <a:solidFill>
                  <a:srgbClr val="1A5FB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https://github.com/drsanjayagal/UniversityIntake-MLDataset</a:t>
            </a:r>
            <a:pPr indent="0" marL="0">
              <a:spcAft>
                <a:spcPts val="300"/>
              </a:spcAft>
              <a:buNone/>
            </a:pP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i="1" dirty="0">
                <a:solidFill>
                  <a:srgbClr val="C45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dataset contains APAAR IDs; test IDs are generated. No real student data is used.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0" y="3931920"/>
            <a:ext cx="3749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7F8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39328" y="3986784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 REFERENCED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339328" y="4315968"/>
            <a:ext cx="3529584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 </a:t>
            </a:r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W3C Verifiable Credentials Data Model 2.0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(W3C Recommendation, May 2025) — planned credential format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 </a:t>
            </a:r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RFC 8032 (EdDSA / Ed25519)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planned record signing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 </a:t>
            </a:r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Personal Data Protection Act, 2023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privacy design input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 </a:t>
            </a:r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AICTE Approval Process Handbook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intake rules (current edition to confirm)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EduVerify — SIH 2026 Idea Submission</dc:title>
  <dc:subject>PptxGenJS Presentation</dc:subject>
  <dc:creator>PptxGenJS</dc:creator>
  <cp:lastModifiedBy>PptxGenJS</cp:lastModifiedBy>
  <cp:revision>1</cp:revision>
  <dcterms:created xsi:type="dcterms:W3CDTF">2026-10-23T17:14:47Z</dcterms:created>
  <dcterms:modified xsi:type="dcterms:W3CDTF">2026-10-23T17:14:47Z</dcterms:modified>
</cp:coreProperties>
</file>